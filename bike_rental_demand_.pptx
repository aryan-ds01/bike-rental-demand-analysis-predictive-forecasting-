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4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2286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Bike Rental Demand Analysis</a:t>
            </a:r>
            <a:br/>
            <a:r>
              <a:t>&amp; Predictive Forecasting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A500"/>
                </a:solidFill>
                <a:latin typeface="Arial"/>
              </a:defRPr>
            </a:pPr>
            <a:r>
              <a:t>Data-Driven Fleet Optimization &amp; Strategic Supply Scheduling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3911905" cy="5745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FF0000"/>
                </a:solidFill>
              </a:rPr>
              <a:t>Prepared by:</a:t>
            </a:r>
            <a:r>
              <a:rPr dirty="0"/>
              <a:t> </a:t>
            </a:r>
            <a:r>
              <a:rPr lang="en-US" dirty="0" smtClean="0">
                <a:latin typeface="Arial Black" pitchFamily="34" charset="0"/>
              </a:rPr>
              <a:t>Aryan Kumar</a:t>
            </a:r>
            <a:endParaRPr dirty="0">
              <a:latin typeface="Arial Black" pitchFamily="34" charset="0"/>
            </a:endParaRPr>
          </a:p>
          <a:p>
            <a:pPr>
              <a:defRPr sz="1300">
                <a:solidFill>
                  <a:srgbClr val="E0E1DD"/>
                </a:solidFill>
                <a:latin typeface="Arial"/>
              </a:defRPr>
            </a:pPr>
            <a:r>
              <a:rPr sz="1400" b="1" dirty="0">
                <a:solidFill>
                  <a:srgbClr val="FF0000"/>
                </a:solidFill>
              </a:rPr>
              <a:t>Organization/Company:</a:t>
            </a:r>
            <a:r>
              <a:rPr dirty="0"/>
              <a:t> </a:t>
            </a:r>
            <a:r>
              <a:rPr lang="en-IN" sz="1400" b="1" dirty="0" err="1">
                <a:latin typeface="+mj-lt"/>
              </a:rPr>
              <a:t>NextHikes</a:t>
            </a:r>
            <a:r>
              <a:rPr lang="en-IN" sz="1400" b="1" dirty="0">
                <a:latin typeface="+mj-lt"/>
              </a:rPr>
              <a:t> IT Solutions</a:t>
            </a:r>
            <a:endParaRPr b="1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01.  Executive Project Summary &amp; Direct Objectives</a:t>
            </a:r>
          </a:p>
          <a:p>
            <a:pPr>
              <a:spcAft>
                <a:spcPts val="1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02.  Core Descriptive Analytics &amp; Key Performance Volume Metrics</a:t>
            </a:r>
          </a:p>
          <a:p>
            <a:pPr>
              <a:spcAft>
                <a:spcPts val="1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03.  Hourly Demand Cycles &amp; Peak Traffic Thresholds</a:t>
            </a:r>
          </a:p>
          <a:p>
            <a:pPr>
              <a:spcAft>
                <a:spcPts val="1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04.  Weather &amp; Environmental Impact Metrics on Velocity</a:t>
            </a:r>
          </a:p>
          <a:p>
            <a:pPr>
              <a:spcAft>
                <a:spcPts val="1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05.  Micro-Analysis of Weather Categories &amp; Mean Demand Index</a:t>
            </a:r>
          </a:p>
          <a:p>
            <a:pPr>
              <a:spcAft>
                <a:spcPts val="1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06.  User Segmentation Diagnostics: Subscriber vs. Casual Behavior</a:t>
            </a:r>
          </a:p>
          <a:p>
            <a:pPr>
              <a:spcAft>
                <a:spcPts val="1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07.  Weekday vs. Weekend Operational Loads &amp; Variances</a:t>
            </a:r>
          </a:p>
          <a:p>
            <a:pPr>
              <a:spcAft>
                <a:spcPts val="1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08.  Statistical Variance Deep Dive &amp; Fleet Stocking Buffers</a:t>
            </a:r>
          </a:p>
          <a:p>
            <a:pPr>
              <a:spcAft>
                <a:spcPts val="1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09.  Time-Series Predictive Forecasting &amp; Horizon Modeling</a:t>
            </a:r>
          </a:p>
          <a:p>
            <a:pPr>
              <a:spcAft>
                <a:spcPts val="1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10.  Strategic Action Plan Framework &amp; Operational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01. Executive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Objective: Conduct a robust, end-to-end analytical assessment of urban bike-sharing demand over historical matrices to uncover structural patterns, environmental drivers, and customer behavior profiles.</a:t>
            </a:r>
          </a:p>
          <a:p>
            <a:pPr>
              <a:spcAft>
                <a:spcPts val="2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Operational Scaling: Total volume metrics demonstrate clear cyclical surges linked intimately with professional commuter schedules, micro-climate triggers, and demographic user classes.</a:t>
            </a:r>
          </a:p>
          <a:p>
            <a:pPr>
              <a:spcAft>
                <a:spcPts val="2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Strategic Goal: Empower operational management to eliminate localized inventory stockouts, minimize redundant logistics redistribution costs, and set high-precision baseline targets for automated maintenance windows.</a:t>
            </a:r>
          </a:p>
          <a:p>
            <a:pPr>
              <a:spcAft>
                <a:spcPts val="20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Business Impact: Moving the system from purely reactive fleet handling into predictive rebalancing ensures optimized utilization rates across core deployment cells.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02. Core Performance &amp; Volume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926080" cy="1097280"/>
          </a:xfrm>
          <a:prstGeom prst="rect">
            <a:avLst/>
          </a:prstGeom>
          <a:solidFill>
            <a:srgbClr val="152238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58,304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0A500"/>
                </a:solidFill>
                <a:latin typeface="Arial"/>
              </a:defRPr>
            </a:pPr>
            <a:r>
              <a:t>TOTAL BIKE RENTALS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2926080" cy="1097280"/>
          </a:xfrm>
          <a:prstGeom prst="rect">
            <a:avLst/>
          </a:prstGeom>
          <a:solidFill>
            <a:srgbClr val="152238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58.30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0A500"/>
                </a:solidFill>
                <a:latin typeface="Arial"/>
              </a:defRPr>
            </a:pPr>
            <a:r>
              <a:t>AVERAGE HOURLY 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2926080" cy="1097280"/>
          </a:xfrm>
          <a:prstGeom prst="rect">
            <a:avLst/>
          </a:prstGeom>
          <a:solidFill>
            <a:srgbClr val="152238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249 / hr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0A500"/>
                </a:solidFill>
                <a:latin typeface="Arial"/>
              </a:defRPr>
            </a:pPr>
            <a:r>
              <a:t>MAX DEMAND CAP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0" y="182880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56032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Statistical Metric</a:t>
                      </a:r>
                    </a:p>
                  </a:txBody>
                  <a:tcPr>
                    <a:solidFill>
                      <a:srgbClr val="F0A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Calculated Value</a:t>
                      </a:r>
                    </a:p>
                  </a:txBody>
                  <a:tcPr>
                    <a:solidFill>
                      <a:srgbClr val="F0A5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Documented Bike Rentals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58,304 units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System-Wide Average Hourly Demand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58.304 units/hr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Maximum Demand Recorded in an Hour Box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249 units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Minimum Demand Recorded in an Hour Box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 unit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System Standard Deviation Index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50.960 units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03. Hourly Demand Cycles &amp; Peak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Dual Peak Phenomenon: Demand showcases deterministic spikes at morning rush hour (08:00) with 5,388 rentals and evening rush hour (17:00) tracking 6,169 aggregate updates.</a:t>
            </a:r>
          </a:p>
          <a:p>
            <a:pPr>
              <a:spcAft>
                <a:spcPts val="18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Overnight Lows: Absolute demand hits a critical system baseline floor during the 00:00 to 04:00 time bands, consistently logging under 703 aggregate units per cell.</a:t>
            </a:r>
          </a:p>
          <a:p>
            <a:pPr>
              <a:spcAft>
                <a:spcPts val="18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Midday Stabilization: Inter-peak periods (10:00 to 15:00) maintain a steady, active traffic flow averaging ~3,100 rentals per hour, indicating non-commuter mid-day utility.</a:t>
            </a:r>
          </a:p>
          <a:p>
            <a:pPr>
              <a:spcAft>
                <a:spcPts val="18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Allocation Roadmap: Supply rebalancing metrics suggest routing fleet reserves to major transit hubs exactly 30 minutes prior to the 08:00 and 17:00 trigger 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04. Weather &amp; Environmental Impact Metrics</a:t>
            </a:r>
          </a:p>
        </p:txBody>
      </p:sp>
      <p:pic>
        <p:nvPicPr>
          <p:cNvPr id="5" name="Picture 4" descr="weath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4083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Climate Dominance: Clear and sunny environmental frames display the highest volume velocity, pushing a dominant average index of 61.7 bike rentals per system hour.</a:t>
            </a:r>
          </a:p>
          <a:p>
            <a:pPr>
              <a:spcAft>
                <a:spcPts val="12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Precipitative Decline: Under adverse scenarios like Light Rain/Snow, the demand drops steeply by 46.2%, arriving at a strict mean of 33.2 units per hour.</a:t>
            </a:r>
          </a:p>
          <a:p>
            <a:pPr>
              <a:spcAft>
                <a:spcPts val="12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Logistical Pivot: Heavy precipitation alerts represent absolute demand destruction events, suppressing spontaneous city commuting behavior entirely.</a:t>
            </a:r>
          </a:p>
          <a:p>
            <a:pPr>
              <a:spcAft>
                <a:spcPts val="12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Dispatch Alignment: Digital fleet scheduling software must dynamically scale down manual bike distributions by 40% immediately upon radar rain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05. Micro-Analysis of Weather Categories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591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114800"/>
                <a:gridCol w="2953512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Weather Situation Frame</a:t>
                      </a:r>
                    </a:p>
                  </a:txBody>
                  <a:tcPr>
                    <a:solidFill>
                      <a:srgbClr val="F0A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Calculated Average Demand Index</a:t>
                      </a:r>
                    </a:p>
                  </a:txBody>
                  <a:tcPr>
                    <a:solidFill>
                      <a:srgbClr val="F0A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Fleet Status Operational Action</a:t>
                      </a:r>
                    </a:p>
                  </a:txBody>
                  <a:tcPr>
                    <a:solidFill>
                      <a:srgbClr val="F0A5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Clear Sky / Partially Cloudy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61.67 Rentals / Hour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Deploy Maximum Fleet Capacity (100%)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Mist / Cloud Overcast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58.60 Rentals / Hour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Standard Baseline Deployment (95%)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Light Rain / Scattered Snow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33.20 Rentals / Hour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Trigger 40% Fleet Hold &amp; Asset Sheltering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Heavy Rain / Severe Storms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36.00 Rentals / Hour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Absolute Lockout / Recall Transit Assets</a:t>
                      </a:r>
                    </a:p>
                  </a:txBody>
                  <a:tcPr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E0E1DD"/>
                </a:solidFill>
                <a:latin typeface="Arial"/>
              </a:defRPr>
            </a:pPr>
            <a:r>
              <a:t>💡 Note: Surprisingly, severe storm data shows localized outlier activity (~36.0 mean) driven by emergency urban return hops when weather conditions shift radically.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7578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06. User Segmentation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Anchor Group Dominance: Registered subscriber users represent a massive 91.6% (53,383 rentals) of all system wide operational volume.</a:t>
            </a:r>
          </a:p>
          <a:p>
            <a:pPr>
              <a:spcAft>
                <a:spcPts val="14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Subscription Revenue Predictability: This high proportion indicates stable recurring revenue streams and a core user base tied tightly to corporate transport schedules.</a:t>
            </a:r>
          </a:p>
          <a:p>
            <a:pPr>
              <a:spcAft>
                <a:spcPts val="14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Casual Segment Windows: Casual clients account for 8.4% (4,921 rentals), displaying non-deterministic spikes primarily on weekends and midday holiday periods.</a:t>
            </a:r>
          </a:p>
          <a:p>
            <a:pPr>
              <a:spcAft>
                <a:spcPts val="14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Targeted Growth: Converting just 2% of the casual segment into monthly active subscribers can accelerate baseline cash flows by double-digit margins.</a:t>
            </a:r>
          </a:p>
        </p:txBody>
      </p:sp>
      <p:pic>
        <p:nvPicPr>
          <p:cNvPr id="7" name="Picture 6" descr="us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84" y="1427967"/>
            <a:ext cx="5029200" cy="48549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07. Weekday vs. Weekend Operational 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2011680"/>
          </a:xfrm>
          <a:prstGeom prst="rect">
            <a:avLst/>
          </a:prstGeom>
          <a:solidFill>
            <a:srgbClr val="152238"/>
          </a:solidFill>
          <a:ln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WEEKDAY SYSTEM MATRIX</a:t>
            </a:r>
            <a:br/>
            <a:r>
              <a:t/>
            </a:r>
            <a:br/>
            <a:r>
              <a:t>• Average Hourly Demand: 63.34 Units</a:t>
            </a:r>
            <a:br/>
            <a:r>
              <a:t>• Primary Drivers: Professional Commuters &amp; Student Hubs</a:t>
            </a:r>
            <a:br/>
            <a:r>
              <a:t>• Target Peaks: 08:00 &amp; 17:00 Transit Corridors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011680"/>
            <a:ext cx="5120640" cy="2011680"/>
          </a:xfrm>
          <a:prstGeom prst="rect">
            <a:avLst/>
          </a:prstGeom>
          <a:solidFill>
            <a:srgbClr val="152238"/>
          </a:solidFill>
          <a:ln>
            <a:solidFill>
              <a:srgbClr val="E0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WEEKEND SYSTEM MATRIX</a:t>
            </a:r>
            <a:br/>
            <a:r>
              <a:t/>
            </a:r>
            <a:br/>
            <a:r>
              <a:t>• Total Period Rentals: 15,869 Units</a:t>
            </a:r>
            <a:br/>
            <a:r>
              <a:t>• Primary Drivers: Recreational Sightseeing &amp; Leisure Trips</a:t>
            </a:r>
            <a:br/>
            <a:r>
              <a:t>• Target Peaks: Distributed uniformly between 11:00 and 16:00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0E1DD"/>
                </a:solidFill>
                <a:latin typeface="Arial"/>
              </a:defRPr>
            </a:pPr>
            <a:r>
              <a:t>• Operational Shift: Weekday utilization profiles display extreme sharpness around the morning and evening rush hour markers, requiring instant cross-station bike redistributions.</a:t>
            </a:r>
          </a:p>
          <a:p>
            <a:pPr>
              <a:spcAft>
                <a:spcPts val="1000"/>
              </a:spcAft>
              <a:defRPr sz="1400">
                <a:solidFill>
                  <a:srgbClr val="E0E1DD"/>
                </a:solidFill>
                <a:latin typeface="Arial"/>
              </a:defRPr>
            </a:pPr>
            <a:r>
              <a:t>• Weekend Buffering: Weekend curves are smoother and flatter, centered heavily around park perimeters, cultural points, and coastal nodes rather than central business districts.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08. Statistical Variance &amp; Safety Stocking Buffers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Standard Deviation Tracking: The calculated baseline standard deviation of 50.96 units indicates high system volatility and unpredictable spikes across specific hours.</a:t>
            </a:r>
          </a:p>
          <a:p>
            <a:pPr>
              <a:spcAft>
                <a:spcPts val="18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Safety Stock Calculation: To achieve a high-reliability service standard of 95% protection against localized stockouts, a safety buffer must be integrated into automated dispatch hubs.</a:t>
            </a:r>
          </a:p>
          <a:p>
            <a:pPr>
              <a:spcAft>
                <a:spcPts val="18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Equation Framework: Safety Buffer = Z-Score (1.645) x Standard Deviation (50.96) =&gt; ~84 standby units per core quadrant zone.</a:t>
            </a:r>
          </a:p>
          <a:p>
            <a:pPr>
              <a:spcAft>
                <a:spcPts val="1800"/>
              </a:spcAft>
              <a:defRPr sz="1500">
                <a:solidFill>
                  <a:srgbClr val="E0E1DD"/>
                </a:solidFill>
                <a:latin typeface="Arial"/>
              </a:defRPr>
            </a:pPr>
            <a:r>
              <a:t>• Maintenance Window Scheduling: The standard deviation contracts significantly between 01:00 and 04:00, making this calm period perfect for system-wide mechanical maintenance.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7578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09. Time-Series Predictive Forecasting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Horizon Projections: The predictive modeling layer charts demand patterns across the next operational window, showing an immediate growth vector peaking up to 188.3 units.</a:t>
            </a:r>
          </a:p>
          <a:p>
            <a:pPr>
              <a:spcAft>
                <a:spcPts val="12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Variance Bands: The shaded 95% confidence interval maps structural tracking risks, widening as the forecast looks further out into the future.</a:t>
            </a:r>
          </a:p>
          <a:p>
            <a:pPr>
              <a:spcAft>
                <a:spcPts val="12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Expected Floor: The system lower bounds establish absolute baseline needs, ensuring zero unnecessary capital expenditure on dead warehouse inventory overrides.</a:t>
            </a:r>
          </a:p>
          <a:p>
            <a:pPr>
              <a:spcAft>
                <a:spcPts val="1200"/>
              </a:spcAft>
              <a:defRPr sz="1300">
                <a:solidFill>
                  <a:srgbClr val="E0E1DD"/>
                </a:solidFill>
                <a:latin typeface="Arial"/>
              </a:defRPr>
            </a:pPr>
            <a:r>
              <a:t>• Model Adaptation: The underlying algorithms refresh dynamically every hour using real-time temperature, windspeed, and rain sensor input feeds.</a:t>
            </a:r>
          </a:p>
        </p:txBody>
      </p:sp>
      <p:pic>
        <p:nvPicPr>
          <p:cNvPr id="7" name="Picture 6" descr="foreca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6420"/>
            <a:ext cx="5212080" cy="34496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A500"/>
                </a:solidFill>
                <a:latin typeface="Arial"/>
              </a:defRPr>
            </a:pPr>
            <a:r>
              <a:t>BIKE RENTAL DEMAND &amp; FORECAST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10. Strategic Action Plan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91840" cy="3931920"/>
          </a:xfrm>
          <a:prstGeom prst="rect">
            <a:avLst/>
          </a:prstGeom>
          <a:solidFill>
            <a:srgbClr val="152238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300" b="1">
                <a:solidFill>
                  <a:srgbClr val="F0A500"/>
                </a:solidFill>
                <a:latin typeface="Arial"/>
              </a:defRPr>
            </a:pPr>
            <a:r>
              <a:t>STAGE 01: WEATHER ADAPTIVE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Arial"/>
              </a:defRPr>
            </a:pPr>
            <a:r>
              <a:t>Connect real-time live meteorological feeds directly into the fleet rebalancing script. Drop distribution by 40% instantly when rain probabilities cross a 70% threshold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011680"/>
            <a:ext cx="3291840" cy="3931920"/>
          </a:xfrm>
          <a:prstGeom prst="rect">
            <a:avLst/>
          </a:prstGeom>
          <a:solidFill>
            <a:srgbClr val="152238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300" b="1">
                <a:solidFill>
                  <a:srgbClr val="F0A500"/>
                </a:solidFill>
                <a:latin typeface="Arial"/>
              </a:defRPr>
            </a:pPr>
            <a:r>
              <a:t>STAGE 02: COMMUTER REBALANCING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Arial"/>
              </a:defRPr>
            </a:pPr>
            <a:r>
              <a:t>Pre-stage ~84 safety stock units at high-density commercial docks by 07:30 and 16:30 daily. Ensure transit assets match professional worker travel paths.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011680"/>
            <a:ext cx="3291840" cy="3931920"/>
          </a:xfrm>
          <a:prstGeom prst="rect">
            <a:avLst/>
          </a:prstGeom>
          <a:solidFill>
            <a:srgbClr val="152238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300" b="1">
                <a:solidFill>
                  <a:srgbClr val="F0A500"/>
                </a:solidFill>
                <a:latin typeface="Arial"/>
              </a:defRPr>
            </a:pPr>
            <a:r>
              <a:t>STAGE 03: CONVERSION MARKETING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Arial"/>
              </a:defRPr>
            </a:pPr>
            <a:r>
              <a:t>Launch custom pricing triggers targeting the 8.4% casual user segment during weekend peak blocks. Drive high-margin conversions to active annual subscriptions.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1192</Words>
  <Application>Microsoft Office PowerPoint</Application>
  <PresentationFormat>Custom</PresentationFormat>
  <Paragraphs>104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2026-10-08T16:34:27Z</dcterms:modified>
</cp:coreProperties>
</file>